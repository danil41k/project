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jmEPvleUIboHubR5FLdkcmJUPG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1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7.xml"/><Relationship Id="rId33" Type="http://schemas.openxmlformats.org/officeDocument/2006/relationships/font" Target="fonts/Lato-boldItalic.fntdata"/><Relationship Id="rId10" Type="http://schemas.openxmlformats.org/officeDocument/2006/relationships/slide" Target="slides/slide6.xml"/><Relationship Id="rId32" Type="http://schemas.openxmlformats.org/officeDocument/2006/relationships/font" Target="fonts/Lato-italic.fntdata"/><Relationship Id="rId13" Type="http://schemas.openxmlformats.org/officeDocument/2006/relationships/slide" Target="slides/slide9.xml"/><Relationship Id="rId35" Type="http://schemas.openxmlformats.org/officeDocument/2006/relationships/font" Target="fonts/CenturyGothic-bold.fntdata"/><Relationship Id="rId12" Type="http://schemas.openxmlformats.org/officeDocument/2006/relationships/slide" Target="slides/slide8.xml"/><Relationship Id="rId34" Type="http://schemas.openxmlformats.org/officeDocument/2006/relationships/font" Target="fonts/CenturyGothic-regular.fntdata"/><Relationship Id="rId15" Type="http://schemas.openxmlformats.org/officeDocument/2006/relationships/slide" Target="slides/slide11.xml"/><Relationship Id="rId37" Type="http://schemas.openxmlformats.org/officeDocument/2006/relationships/font" Target="fonts/CenturyGothic-boldItalic.fntdata"/><Relationship Id="rId14" Type="http://schemas.openxmlformats.org/officeDocument/2006/relationships/slide" Target="slides/slide10.xml"/><Relationship Id="rId36" Type="http://schemas.openxmlformats.org/officeDocument/2006/relationships/font" Target="fonts/CenturyGothic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0d1044938_0_9"/>
          <p:cNvSpPr/>
          <p:nvPr/>
        </p:nvSpPr>
        <p:spPr>
          <a:xfrm rot="5400000">
            <a:off x="10000500" y="673"/>
            <a:ext cx="2191500" cy="21915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g3b0d1044938_0_9"/>
          <p:cNvGrpSpPr/>
          <p:nvPr/>
        </p:nvGrpSpPr>
        <p:grpSpPr>
          <a:xfrm>
            <a:off x="0" y="654"/>
            <a:ext cx="6871435" cy="6845694"/>
            <a:chOff x="0" y="75"/>
            <a:chExt cx="5153705" cy="5152950"/>
          </a:xfrm>
        </p:grpSpPr>
        <p:sp>
          <p:nvSpPr>
            <p:cNvPr id="12" name="Google Shape;12;g3b0d1044938_0_9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g3b0d1044938_0_9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3b0d1044938_0_9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3b0d1044938_0_9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g3b0d1044938_0_9"/>
          <p:cNvSpPr txBox="1"/>
          <p:nvPr>
            <p:ph type="ctrTitle"/>
          </p:nvPr>
        </p:nvSpPr>
        <p:spPr>
          <a:xfrm>
            <a:off x="4716200" y="2104533"/>
            <a:ext cx="6690000" cy="210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17" name="Google Shape;17;g3b0d1044938_0_9"/>
          <p:cNvSpPr txBox="1"/>
          <p:nvPr>
            <p:ph idx="1" type="subTitle"/>
          </p:nvPr>
        </p:nvSpPr>
        <p:spPr>
          <a:xfrm>
            <a:off x="6778600" y="5233233"/>
            <a:ext cx="4627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8" name="Google Shape;18;g3b0d1044938_0_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g3b0d1044938_0_19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21" name="Google Shape;21;g3b0d1044938_0_19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g3b0d1044938_0_19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g3b0d1044938_0_19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g3b0d1044938_0_19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g3b0d1044938_0_19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g3b0d1044938_0_19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g3b0d1044938_0_19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g3b0d1044938_0_19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g3b0d1044938_0_19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g3b0d1044938_0_19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g3b0d1044938_0_19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3b0d1044938_0_19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3b0d1044938_0_19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3b0d1044938_0_19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3b0d1044938_0_19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g3b0d1044938_0_19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g3b0d1044938_0_19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g3b0d1044938_0_19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g3b0d1044938_0_19"/>
          <p:cNvSpPr txBox="1"/>
          <p:nvPr>
            <p:ph type="title"/>
          </p:nvPr>
        </p:nvSpPr>
        <p:spPr>
          <a:xfrm>
            <a:off x="1098467" y="2737333"/>
            <a:ext cx="6116100" cy="1531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" name="Google Shape;40;g3b0d1044938_0_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g3b0d1044938_0_41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43" name="Google Shape;43;g3b0d1044938_0_4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3b0d1044938_0_4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g3b0d1044938_0_41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6" name="Google Shape;46;g3b0d1044938_0_41"/>
          <p:cNvSpPr txBox="1"/>
          <p:nvPr>
            <p:ph idx="1" type="body"/>
          </p:nvPr>
        </p:nvSpPr>
        <p:spPr>
          <a:xfrm>
            <a:off x="1730000" y="2090067"/>
            <a:ext cx="93852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7" name="Google Shape;47;g3b0d1044938_0_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g3b0d1044938_0_48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0" name="Google Shape;50;g3b0d1044938_0_4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g3b0d1044938_0_4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g3b0d1044938_0_48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3" name="Google Shape;53;g3b0d1044938_0_48"/>
          <p:cNvSpPr txBox="1"/>
          <p:nvPr>
            <p:ph idx="1" type="body"/>
          </p:nvPr>
        </p:nvSpPr>
        <p:spPr>
          <a:xfrm>
            <a:off x="1730000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4" name="Google Shape;54;g3b0d1044938_0_48"/>
          <p:cNvSpPr txBox="1"/>
          <p:nvPr>
            <p:ph idx="2" type="body"/>
          </p:nvPr>
        </p:nvSpPr>
        <p:spPr>
          <a:xfrm>
            <a:off x="6577628" y="2090067"/>
            <a:ext cx="4537500" cy="38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5" name="Google Shape;55;g3b0d1044938_0_4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g3b0d1044938_0_56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58" name="Google Shape;58;g3b0d1044938_0_5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g3b0d1044938_0_5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g3b0d1044938_0_56"/>
          <p:cNvSpPr txBox="1"/>
          <p:nvPr>
            <p:ph type="title"/>
          </p:nvPr>
        </p:nvSpPr>
        <p:spPr>
          <a:xfrm>
            <a:off x="1730000" y="525000"/>
            <a:ext cx="9385200" cy="121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g3b0d1044938_0_5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g3b0d1044938_0_62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64" name="Google Shape;64;g3b0d1044938_0_6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g3b0d1044938_0_6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g3b0d1044938_0_62"/>
          <p:cNvSpPr txBox="1"/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g3b0d1044938_0_62"/>
          <p:cNvSpPr txBox="1"/>
          <p:nvPr>
            <p:ph idx="1" type="body"/>
          </p:nvPr>
        </p:nvSpPr>
        <p:spPr>
          <a:xfrm>
            <a:off x="1730000" y="2630067"/>
            <a:ext cx="5065200" cy="3221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8" name="Google Shape;68;g3b0d1044938_0_6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g3b0d1044938_0_69"/>
          <p:cNvGrpSpPr/>
          <p:nvPr/>
        </p:nvGrpSpPr>
        <p:grpSpPr>
          <a:xfrm>
            <a:off x="5875053" y="0"/>
            <a:ext cx="6316642" cy="6857829"/>
            <a:chOff x="4406400" y="0"/>
            <a:chExt cx="4737600" cy="5143500"/>
          </a:xfrm>
        </p:grpSpPr>
        <p:sp>
          <p:nvSpPr>
            <p:cNvPr id="71" name="Google Shape;71;g3b0d1044938_0_69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g3b0d1044938_0_69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g3b0d1044938_0_69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g3b0d1044938_0_69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g3b0d1044938_0_69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g3b0d1044938_0_69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g3b0d1044938_0_69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g3b0d1044938_0_69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g3b0d1044938_0_69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3b0d1044938_0_69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g3b0d1044938_0_69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g3b0d1044938_0_69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g3b0d1044938_0_69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g3b0d1044938_0_69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g3b0d1044938_0_69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g3b0d1044938_0_69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g3b0d1044938_0_69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g3b0d1044938_0_69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g3b0d1044938_0_69"/>
          <p:cNvSpPr txBox="1"/>
          <p:nvPr>
            <p:ph type="title"/>
          </p:nvPr>
        </p:nvSpPr>
        <p:spPr>
          <a:xfrm>
            <a:off x="1098467" y="1155700"/>
            <a:ext cx="6116100" cy="469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g3b0d1044938_0_6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b0d1044938_0_91"/>
          <p:cNvGrpSpPr/>
          <p:nvPr/>
        </p:nvGrpSpPr>
        <p:grpSpPr>
          <a:xfrm>
            <a:off x="0" y="507989"/>
            <a:ext cx="1383765" cy="1355016"/>
            <a:chOff x="0" y="381001"/>
            <a:chExt cx="1037850" cy="1016287"/>
          </a:xfrm>
        </p:grpSpPr>
        <p:sp>
          <p:nvSpPr>
            <p:cNvPr id="93" name="Google Shape;93;g3b0d1044938_0_9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g3b0d1044938_0_9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g3b0d1044938_0_91"/>
          <p:cNvSpPr txBox="1"/>
          <p:nvPr>
            <p:ph type="title"/>
          </p:nvPr>
        </p:nvSpPr>
        <p:spPr>
          <a:xfrm>
            <a:off x="1730000" y="2211100"/>
            <a:ext cx="4048500" cy="2335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6" name="Google Shape;96;g3b0d1044938_0_91"/>
          <p:cNvSpPr txBox="1"/>
          <p:nvPr>
            <p:ph idx="1" type="subTitle"/>
          </p:nvPr>
        </p:nvSpPr>
        <p:spPr>
          <a:xfrm>
            <a:off x="1730000" y="4717333"/>
            <a:ext cx="4048500" cy="67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97" name="Google Shape;97;g3b0d1044938_0_91"/>
          <p:cNvSpPr txBox="1"/>
          <p:nvPr>
            <p:ph idx="2" type="body"/>
          </p:nvPr>
        </p:nvSpPr>
        <p:spPr>
          <a:xfrm>
            <a:off x="6197600" y="2262133"/>
            <a:ext cx="4902300" cy="3129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g3b0d1044938_0_9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b0d1044938_0_99"/>
          <p:cNvGrpSpPr/>
          <p:nvPr/>
        </p:nvGrpSpPr>
        <p:grpSpPr>
          <a:xfrm>
            <a:off x="0" y="5504636"/>
            <a:ext cx="931877" cy="912853"/>
            <a:chOff x="0" y="3785672"/>
            <a:chExt cx="698925" cy="684657"/>
          </a:xfrm>
        </p:grpSpPr>
        <p:sp>
          <p:nvSpPr>
            <p:cNvPr id="101" name="Google Shape;101;g3b0d1044938_0_99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g3b0d1044938_0_99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g3b0d1044938_0_99"/>
          <p:cNvSpPr txBox="1"/>
          <p:nvPr>
            <p:ph idx="1" type="body"/>
          </p:nvPr>
        </p:nvSpPr>
        <p:spPr>
          <a:xfrm>
            <a:off x="1083633" y="5740500"/>
            <a:ext cx="9248100" cy="698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04" name="Google Shape;104;g3b0d1044938_0_9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b0d1044938_0_105"/>
          <p:cNvGrpSpPr/>
          <p:nvPr/>
        </p:nvGrpSpPr>
        <p:grpSpPr>
          <a:xfrm>
            <a:off x="5875053" y="0"/>
            <a:ext cx="6316642" cy="6857248"/>
            <a:chOff x="4406400" y="0"/>
            <a:chExt cx="4737600" cy="5143065"/>
          </a:xfrm>
        </p:grpSpPr>
        <p:sp>
          <p:nvSpPr>
            <p:cNvPr id="107" name="Google Shape;107;g3b0d1044938_0_10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g3b0d1044938_0_10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g3b0d1044938_0_10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g3b0d1044938_0_10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g3b0d1044938_0_10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g3b0d1044938_0_10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g3b0d1044938_0_10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b0d1044938_0_10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b0d1044938_0_10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g3b0d1044938_0_10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g3b0d1044938_0_10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g3b0d1044938_0_10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b0d1044938_0_10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g3b0d1044938_0_10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b0d1044938_0_10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g3b0d1044938_0_10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3b0d1044938_0_10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g3b0d1044938_0_10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g3b0d1044938_0_105"/>
          <p:cNvSpPr txBox="1"/>
          <p:nvPr>
            <p:ph hasCustomPrompt="1" type="title"/>
          </p:nvPr>
        </p:nvSpPr>
        <p:spPr>
          <a:xfrm>
            <a:off x="1098467" y="1712900"/>
            <a:ext cx="63681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1pPr>
            <a:lvl2pPr lvl="1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2pPr>
            <a:lvl3pPr lvl="2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3pPr>
            <a:lvl4pPr lvl="3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4pPr>
            <a:lvl5pPr lvl="4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5pPr>
            <a:lvl6pPr lvl="5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6pPr>
            <a:lvl7pPr lvl="6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7pPr>
            <a:lvl8pPr lvl="7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8pPr>
            <a:lvl9pPr lvl="8">
              <a:spcBef>
                <a:spcPts val="0"/>
              </a:spcBef>
              <a:spcAft>
                <a:spcPts val="0"/>
              </a:spcAft>
              <a:buSzPts val="10700"/>
              <a:buNone/>
              <a:defRPr sz="10700"/>
            </a:lvl9pPr>
          </a:lstStyle>
          <a:p>
            <a:r>
              <a:t>xx%</a:t>
            </a:r>
          </a:p>
        </p:txBody>
      </p:sp>
      <p:sp>
        <p:nvSpPr>
          <p:cNvPr id="126" name="Google Shape;126;g3b0d1044938_0_105"/>
          <p:cNvSpPr txBox="1"/>
          <p:nvPr>
            <p:ph idx="1" type="body"/>
          </p:nvPr>
        </p:nvSpPr>
        <p:spPr>
          <a:xfrm>
            <a:off x="1098467" y="3524166"/>
            <a:ext cx="6368100" cy="162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27" name="Google Shape;127;g3b0d1044938_0_10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0d1044938_0_1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 та вміст" type="obj">
  <p:cSld name="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0d1044938_0_130"/>
          <p:cNvSpPr txBox="1"/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2" name="Google Shape;132;g3b0d1044938_0_130"/>
          <p:cNvSpPr txBox="1"/>
          <p:nvPr>
            <p:ph idx="1" type="body"/>
          </p:nvPr>
        </p:nvSpPr>
        <p:spPr>
          <a:xfrm>
            <a:off x="1103312" y="2052918"/>
            <a:ext cx="8946600" cy="41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●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○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■"/>
              <a:defRPr/>
            </a:lvl9pPr>
          </a:lstStyle>
          <a:p/>
        </p:txBody>
      </p:sp>
      <p:sp>
        <p:nvSpPr>
          <p:cNvPr id="133" name="Google Shape;133;g3b0d1044938_0_130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b0d1044938_0_130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b0d1044938_0_130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колонки з малюнками">
  <p:cSld name="3 колонки з малюнками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0d1044938_0_136"/>
          <p:cNvSpPr txBox="1"/>
          <p:nvPr>
            <p:ph type="title"/>
          </p:nvPr>
        </p:nvSpPr>
        <p:spPr>
          <a:xfrm>
            <a:off x="646111" y="452718"/>
            <a:ext cx="94047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8" name="Google Shape;138;g3b0d1044938_0_136"/>
          <p:cNvSpPr txBox="1"/>
          <p:nvPr>
            <p:ph idx="1" type="body"/>
          </p:nvPr>
        </p:nvSpPr>
        <p:spPr>
          <a:xfrm>
            <a:off x="652463" y="4250949"/>
            <a:ext cx="29400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39" name="Google Shape;139;g3b0d1044938_0_136"/>
          <p:cNvSpPr/>
          <p:nvPr>
            <p:ph idx="2" type="pic"/>
          </p:nvPr>
        </p:nvSpPr>
        <p:spPr>
          <a:xfrm>
            <a:off x="652463" y="2209800"/>
            <a:ext cx="294000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50"/>
              </a:srgbClr>
            </a:outerShdw>
          </a:effectLst>
        </p:spPr>
      </p:sp>
      <p:sp>
        <p:nvSpPr>
          <p:cNvPr id="140" name="Google Shape;140;g3b0d1044938_0_136"/>
          <p:cNvSpPr txBox="1"/>
          <p:nvPr>
            <p:ph idx="3" type="body"/>
          </p:nvPr>
        </p:nvSpPr>
        <p:spPr>
          <a:xfrm>
            <a:off x="652463" y="4827211"/>
            <a:ext cx="29400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41" name="Google Shape;141;g3b0d1044938_0_136"/>
          <p:cNvSpPr txBox="1"/>
          <p:nvPr>
            <p:ph idx="4" type="body"/>
          </p:nvPr>
        </p:nvSpPr>
        <p:spPr>
          <a:xfrm>
            <a:off x="3889375" y="4250949"/>
            <a:ext cx="29304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42" name="Google Shape;142;g3b0d1044938_0_136"/>
          <p:cNvSpPr/>
          <p:nvPr>
            <p:ph idx="5" type="pic"/>
          </p:nvPr>
        </p:nvSpPr>
        <p:spPr>
          <a:xfrm>
            <a:off x="3889374" y="2209800"/>
            <a:ext cx="293040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50"/>
              </a:srgbClr>
            </a:outerShdw>
          </a:effectLst>
        </p:spPr>
      </p:sp>
      <p:sp>
        <p:nvSpPr>
          <p:cNvPr id="143" name="Google Shape;143;g3b0d1044938_0_136"/>
          <p:cNvSpPr txBox="1"/>
          <p:nvPr>
            <p:ph idx="6" type="body"/>
          </p:nvPr>
        </p:nvSpPr>
        <p:spPr>
          <a:xfrm>
            <a:off x="3888022" y="4827210"/>
            <a:ext cx="2934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44" name="Google Shape;144;g3b0d1044938_0_136"/>
          <p:cNvSpPr txBox="1"/>
          <p:nvPr>
            <p:ph idx="7" type="body"/>
          </p:nvPr>
        </p:nvSpPr>
        <p:spPr>
          <a:xfrm>
            <a:off x="7124700" y="4250949"/>
            <a:ext cx="29322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45" name="Google Shape;145;g3b0d1044938_0_136"/>
          <p:cNvSpPr/>
          <p:nvPr>
            <p:ph idx="8" type="pic"/>
          </p:nvPr>
        </p:nvSpPr>
        <p:spPr>
          <a:xfrm>
            <a:off x="7124699" y="2209800"/>
            <a:ext cx="293220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50"/>
              </a:srgbClr>
            </a:outerShdw>
          </a:effectLst>
        </p:spPr>
      </p:sp>
      <p:sp>
        <p:nvSpPr>
          <p:cNvPr id="146" name="Google Shape;146;g3b0d1044938_0_136"/>
          <p:cNvSpPr txBox="1"/>
          <p:nvPr>
            <p:ph idx="9" type="body"/>
          </p:nvPr>
        </p:nvSpPr>
        <p:spPr>
          <a:xfrm>
            <a:off x="7124575" y="4827208"/>
            <a:ext cx="29361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47" name="Google Shape;147;g3b0d1044938_0_136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g3b0d1044938_0_136"/>
          <p:cNvCxnSpPr/>
          <p:nvPr/>
        </p:nvCxnSpPr>
        <p:spPr>
          <a:xfrm>
            <a:off x="6962227" y="2133600"/>
            <a:ext cx="0" cy="3966900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g3b0d1044938_0_136"/>
          <p:cNvSpPr txBox="1"/>
          <p:nvPr>
            <p:ph idx="10" type="dt"/>
          </p:nvPr>
        </p:nvSpPr>
        <p:spPr>
          <a:xfrm rot="5400000">
            <a:off x="10155638" y="1790701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3b0d1044938_0_136"/>
          <p:cNvSpPr txBox="1"/>
          <p:nvPr>
            <p:ph idx="11" type="ftr"/>
          </p:nvPr>
        </p:nvSpPr>
        <p:spPr>
          <a:xfrm rot="5400000">
            <a:off x="8951571" y="3225300"/>
            <a:ext cx="385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b0d1044938_0_136"/>
          <p:cNvSpPr txBox="1"/>
          <p:nvPr>
            <p:ph idx="12" type="sldNum"/>
          </p:nvPr>
        </p:nvSpPr>
        <p:spPr>
          <a:xfrm>
            <a:off x="10352540" y="295729"/>
            <a:ext cx="838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b0d1044938_0_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Montserrat"/>
              <a:buNone/>
              <a:defRPr sz="3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g3b0d1044938_0_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  <a:defRPr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○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■"/>
              <a:defRPr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g3b0d1044938_0_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jpg"/><Relationship Id="rId4" Type="http://schemas.openxmlformats.org/officeDocument/2006/relationships/image" Target="../media/image5.png"/><Relationship Id="rId5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Relationship Id="rId4" Type="http://schemas.openxmlformats.org/officeDocument/2006/relationships/image" Target="../media/image28.png"/><Relationship Id="rId9" Type="http://schemas.openxmlformats.org/officeDocument/2006/relationships/image" Target="../media/image26.png"/><Relationship Id="rId5" Type="http://schemas.openxmlformats.org/officeDocument/2006/relationships/image" Target="../media/image31.png"/><Relationship Id="rId6" Type="http://schemas.openxmlformats.org/officeDocument/2006/relationships/image" Target="../media/image24.png"/><Relationship Id="rId7" Type="http://schemas.openxmlformats.org/officeDocument/2006/relationships/image" Target="../media/image34.png"/><Relationship Id="rId8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Relationship Id="rId6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"/>
          <p:cNvSpPr txBox="1"/>
          <p:nvPr>
            <p:ph type="ctrTitle"/>
          </p:nvPr>
        </p:nvSpPr>
        <p:spPr>
          <a:xfrm>
            <a:off x="4120625" y="952923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</a:pPr>
            <a:r>
              <a:rPr b="1" lang="uk-UA"/>
              <a:t>Книги</a:t>
            </a:r>
            <a:r>
              <a:rPr b="1" lang="uk-UA"/>
              <a:t> по мовам програмування.</a:t>
            </a:r>
            <a:endParaRPr/>
          </a:p>
        </p:txBody>
      </p:sp>
      <p:sp>
        <p:nvSpPr>
          <p:cNvPr id="157" name="Google Shape;157;p1"/>
          <p:cNvSpPr txBox="1"/>
          <p:nvPr>
            <p:ph idx="1" type="subTitle"/>
          </p:nvPr>
        </p:nvSpPr>
        <p:spPr>
          <a:xfrm>
            <a:off x="634025" y="4003123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i="1" lang="uk-UA"/>
              <a:t>РОЗРОБЛЕНО: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uk-UA"/>
              <a:t>Остаповець Данило і Козачук Максим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uk-UA"/>
              <a:t>ІПЗ-21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uk-UA"/>
              <a:t>15.12.2025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/>
          <p:nvPr/>
        </p:nvSpPr>
        <p:spPr>
          <a:xfrm>
            <a:off x="8159650" y="4355350"/>
            <a:ext cx="3920400" cy="2156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8127250" y="3434050"/>
            <a:ext cx="3920400" cy="7242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413200" y="4090725"/>
            <a:ext cx="3920400" cy="28623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4603375" y="3580763"/>
            <a:ext cx="3286500" cy="9213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4587175" y="4648775"/>
            <a:ext cx="3286500" cy="2156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413200" y="3434050"/>
            <a:ext cx="3920400" cy="5232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2"/>
          <p:cNvSpPr txBox="1"/>
          <p:nvPr>
            <p:ph type="title"/>
          </p:nvPr>
        </p:nvSpPr>
        <p:spPr>
          <a:xfrm>
            <a:off x="646100" y="452729"/>
            <a:ext cx="5999700" cy="7242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entury Gothic"/>
              <a:buNone/>
            </a:pPr>
            <a:r>
              <a:rPr b="1" lang="uk-UA" sz="2000"/>
              <a:t>Огляд проблем та чому цей сайт потрібний.</a:t>
            </a:r>
            <a:endParaRPr/>
          </a:p>
        </p:txBody>
      </p:sp>
      <p:sp>
        <p:nvSpPr>
          <p:cNvPr id="169" name="Google Shape;169;p2"/>
          <p:cNvSpPr txBox="1"/>
          <p:nvPr>
            <p:ph idx="1" type="body"/>
          </p:nvPr>
        </p:nvSpPr>
        <p:spPr>
          <a:xfrm>
            <a:off x="134448" y="1359190"/>
            <a:ext cx="8946600" cy="10578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uk-UA"/>
              <a:t>Цей сайт призначений для майбутніх програмістів які бажають вивчати мови програмування самостійно, використовуючи наш товар, книжки написані від руки професіоналів по вашій мові.</a:t>
            </a:r>
            <a:endParaRPr/>
          </a:p>
        </p:txBody>
      </p:sp>
      <p:sp>
        <p:nvSpPr>
          <p:cNvPr id="170" name="Google Shape;170;p2"/>
          <p:cNvSpPr txBox="1"/>
          <p:nvPr/>
        </p:nvSpPr>
        <p:spPr>
          <a:xfrm>
            <a:off x="959340" y="3511004"/>
            <a:ext cx="254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uk-UA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Чому це актуально?</a:t>
            </a:r>
            <a:endParaRPr/>
          </a:p>
        </p:txBody>
      </p:sp>
      <p:sp>
        <p:nvSpPr>
          <p:cNvPr id="171" name="Google Shape;171;p2"/>
          <p:cNvSpPr txBox="1"/>
          <p:nvPr/>
        </p:nvSpPr>
        <p:spPr>
          <a:xfrm>
            <a:off x="5674901" y="2763425"/>
            <a:ext cx="1224900" cy="5232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Q/A</a:t>
            </a:r>
            <a:endParaRPr b="1" sz="2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2" name="Google Shape;172;p2"/>
          <p:cNvSpPr txBox="1"/>
          <p:nvPr/>
        </p:nvSpPr>
        <p:spPr>
          <a:xfrm>
            <a:off x="445603" y="4090719"/>
            <a:ext cx="38556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 інтернеті можна знайти багато корисної інформації стосовно твоєї професії, але також непотріб, який може зашкодити твоїм навичкам, тому в наших книжках все розписано послідовно людьми, які вивчили мови програмування на досконалий рівень.</a:t>
            </a:r>
            <a:endParaRPr/>
          </a:p>
        </p:txBody>
      </p:sp>
      <p:sp>
        <p:nvSpPr>
          <p:cNvPr id="173" name="Google Shape;173;p2"/>
          <p:cNvSpPr txBox="1"/>
          <p:nvPr/>
        </p:nvSpPr>
        <p:spPr>
          <a:xfrm>
            <a:off x="4990087" y="3718313"/>
            <a:ext cx="263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Хто цільова аудиторія сайту?</a:t>
            </a:r>
            <a:endParaRPr/>
          </a:p>
        </p:txBody>
      </p:sp>
      <p:sp>
        <p:nvSpPr>
          <p:cNvPr id="174" name="Google Shape;174;p2"/>
          <p:cNvSpPr txBox="1"/>
          <p:nvPr/>
        </p:nvSpPr>
        <p:spPr>
          <a:xfrm>
            <a:off x="4753086" y="4783135"/>
            <a:ext cx="2954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Цільовою аудиторію цього вебсайту являються люди які у майбутньому хочуть вміти кодувати без проблем</a:t>
            </a:r>
            <a:endParaRPr/>
          </a:p>
        </p:txBody>
      </p:sp>
      <p:sp>
        <p:nvSpPr>
          <p:cNvPr id="175" name="Google Shape;175;p2"/>
          <p:cNvSpPr txBox="1"/>
          <p:nvPr/>
        </p:nvSpPr>
        <p:spPr>
          <a:xfrm>
            <a:off x="8706402" y="3473052"/>
            <a:ext cx="276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Яку проблему вирішує застосунок?</a:t>
            </a:r>
            <a:endParaRPr/>
          </a:p>
        </p:txBody>
      </p:sp>
      <p:sp>
        <p:nvSpPr>
          <p:cNvPr id="176" name="Google Shape;176;p2"/>
          <p:cNvSpPr txBox="1"/>
          <p:nvPr/>
        </p:nvSpPr>
        <p:spPr>
          <a:xfrm>
            <a:off x="8769300" y="4355342"/>
            <a:ext cx="2954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На цьому вебсайті можна порадитись з іншими професіоналами використовуючи функцію «Клієнтування» та «Відгуки»</a:t>
            </a:r>
            <a:endParaRPr/>
          </a:p>
        </p:txBody>
      </p:sp>
      <p:cxnSp>
        <p:nvCxnSpPr>
          <p:cNvPr id="177" name="Google Shape;177;p2"/>
          <p:cNvCxnSpPr>
            <a:stCxn id="163" idx="0"/>
            <a:endCxn id="171" idx="3"/>
          </p:cNvCxnSpPr>
          <p:nvPr/>
        </p:nvCxnSpPr>
        <p:spPr>
          <a:xfrm flipH="1" rot="5400000">
            <a:off x="8289250" y="1635850"/>
            <a:ext cx="408900" cy="3187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"/>
          <p:cNvCxnSpPr>
            <a:endCxn id="167" idx="0"/>
          </p:cNvCxnSpPr>
          <p:nvPr/>
        </p:nvCxnSpPr>
        <p:spPr>
          <a:xfrm flipH="1">
            <a:off x="2373400" y="3015250"/>
            <a:ext cx="3301500" cy="418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"/>
          <p:cNvCxnSpPr>
            <a:stCxn id="171" idx="2"/>
            <a:endCxn id="171" idx="2"/>
          </p:cNvCxnSpPr>
          <p:nvPr/>
        </p:nvCxnSpPr>
        <p:spPr>
          <a:xfrm flipH="1" rot="-5400000">
            <a:off x="6287351" y="3286625"/>
            <a:ext cx="600" cy="6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"/>
          <p:cNvSpPr/>
          <p:nvPr/>
        </p:nvSpPr>
        <p:spPr>
          <a:xfrm>
            <a:off x="4595925" y="3090450"/>
            <a:ext cx="3582600" cy="2888100"/>
          </a:xfrm>
          <a:prstGeom prst="roundRect">
            <a:avLst>
              <a:gd fmla="val 16667" name="adj"/>
            </a:avLst>
          </a:prstGeom>
          <a:solidFill>
            <a:srgbClr val="3B445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8250775" y="2952600"/>
            <a:ext cx="3941400" cy="3099300"/>
          </a:xfrm>
          <a:prstGeom prst="roundRect">
            <a:avLst>
              <a:gd fmla="val 16667" name="adj"/>
            </a:avLst>
          </a:prstGeom>
          <a:solidFill>
            <a:srgbClr val="3B445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115175" y="3109650"/>
            <a:ext cx="4418400" cy="2658600"/>
          </a:xfrm>
          <a:prstGeom prst="roundRect">
            <a:avLst>
              <a:gd fmla="val 16667" name="adj"/>
            </a:avLst>
          </a:prstGeom>
          <a:solidFill>
            <a:srgbClr val="3B445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7" name="Google Shape;187;p3"/>
          <p:cNvSpPr txBox="1"/>
          <p:nvPr>
            <p:ph type="title"/>
          </p:nvPr>
        </p:nvSpPr>
        <p:spPr>
          <a:xfrm>
            <a:off x="7698009" y="274718"/>
            <a:ext cx="41856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entury Gothic"/>
              <a:buNone/>
            </a:pPr>
            <a:r>
              <a:rPr lang="uk-UA" sz="2000"/>
              <a:t>Опис застосунку та його особливості.</a:t>
            </a:r>
            <a:endParaRPr/>
          </a:p>
        </p:txBody>
      </p:sp>
      <p:sp>
        <p:nvSpPr>
          <p:cNvPr id="188" name="Google Shape;188;p3"/>
          <p:cNvSpPr txBox="1"/>
          <p:nvPr>
            <p:ph idx="1" type="body"/>
          </p:nvPr>
        </p:nvSpPr>
        <p:spPr>
          <a:xfrm>
            <a:off x="281125" y="1026072"/>
            <a:ext cx="8946600" cy="13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uk-UA" sz="2000"/>
              <a:t>Цей застосунок допоможе будь-кому хто хоче почати вивчати мови програмування та</a:t>
            </a:r>
            <a:r>
              <a:rPr lang="uk-UA" sz="2000"/>
              <a:t> не питати штучних інтелектів тебе навчити</a:t>
            </a:r>
            <a:endParaRPr sz="2000"/>
          </a:p>
        </p:txBody>
      </p:sp>
      <p:sp>
        <p:nvSpPr>
          <p:cNvPr id="189" name="Google Shape;189;p3"/>
          <p:cNvSpPr txBox="1"/>
          <p:nvPr/>
        </p:nvSpPr>
        <p:spPr>
          <a:xfrm>
            <a:off x="3118674" y="2419343"/>
            <a:ext cx="626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Унікальні можливості веб-застосунку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537327" y="3090446"/>
            <a:ext cx="343135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Швидкі переходи по сторінкам</a:t>
            </a:r>
            <a:endParaRPr/>
          </a:p>
        </p:txBody>
      </p:sp>
      <p:pic>
        <p:nvPicPr>
          <p:cNvPr descr="Зображення, що містить текст, знімок екрана, Шрифт, логотип&#10;&#10;Вміст на основі ШІ може бути неправильним." id="191" name="Google Shape;19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870" y="3783176"/>
            <a:ext cx="4219814" cy="170565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"/>
          <p:cNvSpPr txBox="1"/>
          <p:nvPr/>
        </p:nvSpPr>
        <p:spPr>
          <a:xfrm>
            <a:off x="4758965" y="3090446"/>
            <a:ext cx="31139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Живі відгуки від користувачів</a:t>
            </a:r>
            <a:endParaRPr/>
          </a:p>
        </p:txBody>
      </p:sp>
      <p:pic>
        <p:nvPicPr>
          <p:cNvPr descr="Зображення, що містить текст, знімок екрана, Шрифт, число&#10;&#10;Вміст на основі ШІ може бути неправильним." id="193" name="Google Shape;19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588" y="3602160"/>
            <a:ext cx="3445291" cy="216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"/>
          <p:cNvSpPr txBox="1"/>
          <p:nvPr/>
        </p:nvSpPr>
        <p:spPr>
          <a:xfrm>
            <a:off x="8250717" y="3090446"/>
            <a:ext cx="394128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Повідомлення розробнику вебсайту</a:t>
            </a:r>
            <a:endParaRPr/>
          </a:p>
        </p:txBody>
      </p:sp>
      <p:pic>
        <p:nvPicPr>
          <p:cNvPr descr="Зображення, що містить текст, знімок екрана, Шрифт, число&#10;&#10;Вміст на основі ШІ може бути неправильним." id="195" name="Google Shape;19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5807" y="3638111"/>
            <a:ext cx="3740236" cy="20943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3"/>
          <p:cNvCxnSpPr>
            <a:stCxn id="189" idx="1"/>
            <a:endCxn id="190" idx="0"/>
          </p:cNvCxnSpPr>
          <p:nvPr/>
        </p:nvCxnSpPr>
        <p:spPr>
          <a:xfrm flipH="1">
            <a:off x="2252874" y="2603993"/>
            <a:ext cx="865800" cy="486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3"/>
          <p:cNvCxnSpPr>
            <a:stCxn id="189" idx="3"/>
            <a:endCxn id="185" idx="0"/>
          </p:cNvCxnSpPr>
          <p:nvPr/>
        </p:nvCxnSpPr>
        <p:spPr>
          <a:xfrm>
            <a:off x="9387474" y="2603993"/>
            <a:ext cx="834000" cy="348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3"/>
          <p:cNvCxnSpPr>
            <a:stCxn id="192" idx="0"/>
            <a:endCxn id="192" idx="0"/>
          </p:cNvCxnSpPr>
          <p:nvPr/>
        </p:nvCxnSpPr>
        <p:spPr>
          <a:xfrm flipH="1" rot="-5400000">
            <a:off x="6315959" y="3090446"/>
            <a:ext cx="600" cy="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"/>
          <p:cNvSpPr/>
          <p:nvPr/>
        </p:nvSpPr>
        <p:spPr>
          <a:xfrm>
            <a:off x="7936750" y="307800"/>
            <a:ext cx="3716700" cy="49536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8351875" y="1822375"/>
            <a:ext cx="2596500" cy="11622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246500" y="2802200"/>
            <a:ext cx="7248300" cy="22302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505875" y="3658050"/>
            <a:ext cx="2596500" cy="11622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177975" y="198925"/>
            <a:ext cx="7316700" cy="22302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450225" y="1266900"/>
            <a:ext cx="2596500" cy="1162200"/>
          </a:xfrm>
          <a:prstGeom prst="roundRect">
            <a:avLst>
              <a:gd fmla="val 16667" name="adj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9" name="Google Shape;209;p4"/>
          <p:cNvSpPr txBox="1"/>
          <p:nvPr>
            <p:ph type="title"/>
          </p:nvPr>
        </p:nvSpPr>
        <p:spPr>
          <a:xfrm>
            <a:off x="1565648" y="5228050"/>
            <a:ext cx="65697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Технологічний стек</a:t>
            </a:r>
            <a:endParaRPr/>
          </a:p>
        </p:txBody>
      </p:sp>
      <p:sp>
        <p:nvSpPr>
          <p:cNvPr id="210" name="Google Shape;210;p4"/>
          <p:cNvSpPr txBox="1"/>
          <p:nvPr>
            <p:ph idx="1" type="body"/>
          </p:nvPr>
        </p:nvSpPr>
        <p:spPr>
          <a:xfrm>
            <a:off x="505863" y="376357"/>
            <a:ext cx="29400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uk-UA" sz="2000">
                <a:solidFill>
                  <a:schemeClr val="lt1"/>
                </a:solidFill>
              </a:rPr>
              <a:t>Frontend Technology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211" name="Google Shape;211;p4"/>
          <p:cNvSpPr txBox="1"/>
          <p:nvPr>
            <p:ph idx="3" type="body"/>
          </p:nvPr>
        </p:nvSpPr>
        <p:spPr>
          <a:xfrm>
            <a:off x="505863" y="1343946"/>
            <a:ext cx="294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20"/>
              <a:buNone/>
            </a:pPr>
            <a:r>
              <a:rPr lang="uk-UA"/>
              <a:t>HTML                       </a:t>
            </a:r>
            <a:r>
              <a:rPr b="1" lang="uk-UA"/>
              <a:t>Frameworks: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20"/>
              <a:buNone/>
            </a:pPr>
            <a:r>
              <a:rPr lang="uk-UA"/>
              <a:t>CSS                         Flask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20"/>
              <a:buNone/>
            </a:pPr>
            <a:r>
              <a:rPr lang="uk-UA"/>
              <a:t>JavaScript             Taildwind CSS</a:t>
            </a:r>
            <a:endParaRPr/>
          </a:p>
        </p:txBody>
      </p:sp>
      <p:sp>
        <p:nvSpPr>
          <p:cNvPr id="212" name="Google Shape;212;p4"/>
          <p:cNvSpPr txBox="1"/>
          <p:nvPr>
            <p:ph idx="4" type="body"/>
          </p:nvPr>
        </p:nvSpPr>
        <p:spPr>
          <a:xfrm>
            <a:off x="596001" y="2802207"/>
            <a:ext cx="29304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uk-UA" sz="2000">
                <a:solidFill>
                  <a:schemeClr val="lt1"/>
                </a:solidFill>
              </a:rPr>
              <a:t>Backend Technology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213" name="Google Shape;213;p4"/>
          <p:cNvSpPr txBox="1"/>
          <p:nvPr>
            <p:ph idx="6" type="body"/>
          </p:nvPr>
        </p:nvSpPr>
        <p:spPr>
          <a:xfrm>
            <a:off x="493910" y="3769794"/>
            <a:ext cx="29343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16"/>
              <a:buNone/>
            </a:pPr>
            <a:r>
              <a:rPr lang="uk-UA" sz="1270"/>
              <a:t>Python                     </a:t>
            </a:r>
            <a:r>
              <a:rPr b="1" lang="uk-UA" sz="1270"/>
              <a:t>Frameworks:</a:t>
            </a:r>
            <a:endParaRPr sz="127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16"/>
              <a:buNone/>
            </a:pPr>
            <a:r>
              <a:rPr lang="uk-UA" sz="1270"/>
              <a:t>                                 Flask</a:t>
            </a:r>
            <a:endParaRPr sz="127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16"/>
              <a:buNone/>
            </a:pPr>
            <a:r>
              <a:rPr lang="uk-UA" sz="1270"/>
              <a:t>                                 Flasgger</a:t>
            </a:r>
            <a:endParaRPr sz="1270"/>
          </a:p>
          <a:p>
            <a:pPr indent="0" lvl="0" marL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616"/>
              <a:buNone/>
            </a:pPr>
            <a:r>
              <a:t/>
            </a:r>
            <a:endParaRPr sz="770"/>
          </a:p>
        </p:txBody>
      </p:sp>
      <p:sp>
        <p:nvSpPr>
          <p:cNvPr id="214" name="Google Shape;214;p4"/>
          <p:cNvSpPr txBox="1"/>
          <p:nvPr>
            <p:ph idx="7" type="body"/>
          </p:nvPr>
        </p:nvSpPr>
        <p:spPr>
          <a:xfrm>
            <a:off x="8351868" y="967907"/>
            <a:ext cx="29322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uk-UA" sz="2000">
                <a:solidFill>
                  <a:schemeClr val="lt1"/>
                </a:solidFill>
              </a:rPr>
              <a:t>DataBase and Others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15" name="Google Shape;215;p4"/>
          <p:cNvSpPr txBox="1"/>
          <p:nvPr>
            <p:ph idx="9" type="body"/>
          </p:nvPr>
        </p:nvSpPr>
        <p:spPr>
          <a:xfrm>
            <a:off x="8351868" y="1935494"/>
            <a:ext cx="2936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20"/>
              <a:buNone/>
            </a:pPr>
            <a:r>
              <a:rPr b="1" lang="uk-UA"/>
              <a:t>Database:                         Others: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20"/>
              <a:buNone/>
            </a:pPr>
            <a:r>
              <a:rPr lang="uk-UA"/>
              <a:t>SQLite                                Git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120"/>
              <a:buNone/>
            </a:pPr>
            <a:r>
              <a:rPr lang="uk-UA"/>
              <a:t>                                           Docker</a:t>
            </a:r>
            <a:endParaRPr/>
          </a:p>
        </p:txBody>
      </p:sp>
      <p:pic>
        <p:nvPicPr>
          <p:cNvPr descr="Front-End Technologies. What are front-end technologies? | by Aryanaher |  Medium" id="216" name="Google Shape;2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60918" y="307811"/>
            <a:ext cx="3437287" cy="20124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ck-End Web Development/Programming - Computer Training School Port  Harcourt" id="217" name="Google Shape;21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49104" y="2877160"/>
            <a:ext cx="2934406" cy="2080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st Popular Databases: Best Database to Work in 2020" id="218" name="Google Shape;21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738" y="3107986"/>
            <a:ext cx="3456372" cy="176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"/>
          <p:cNvSpPr/>
          <p:nvPr/>
        </p:nvSpPr>
        <p:spPr>
          <a:xfrm>
            <a:off x="1185975" y="3473613"/>
            <a:ext cx="2441400" cy="9234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1148650" y="2134775"/>
            <a:ext cx="2441400" cy="9234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1185975" y="4812475"/>
            <a:ext cx="2441400" cy="9234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464350" y="791850"/>
            <a:ext cx="3810000" cy="52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5"/>
          <p:cNvSpPr txBox="1"/>
          <p:nvPr>
            <p:ph type="ctrTitle"/>
          </p:nvPr>
        </p:nvSpPr>
        <p:spPr>
          <a:xfrm>
            <a:off x="3230923" y="476779"/>
            <a:ext cx="53307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</a:pPr>
            <a:r>
              <a:rPr lang="uk-UA" sz="2400"/>
              <a:t>Діаграма архітектури застосунку</a:t>
            </a:r>
            <a:endParaRPr/>
          </a:p>
        </p:txBody>
      </p:sp>
      <p:sp>
        <p:nvSpPr>
          <p:cNvPr id="228" name="Google Shape;228;p5"/>
          <p:cNvSpPr txBox="1"/>
          <p:nvPr>
            <p:ph idx="1" type="subTitle"/>
          </p:nvPr>
        </p:nvSpPr>
        <p:spPr>
          <a:xfrm>
            <a:off x="464356" y="941541"/>
            <a:ext cx="4076921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uk-UA">
                <a:solidFill>
                  <a:schemeClr val="lt1"/>
                </a:solidFill>
              </a:rPr>
              <a:t>ОПИС ОСНОВНИХ КОМПОНЕНТІВ</a:t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4675700" y="791850"/>
            <a:ext cx="2215200" cy="741600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Користувач заходить на вебсайт</a:t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 rot="5400000">
            <a:off x="5522550" y="1747125"/>
            <a:ext cx="525900" cy="179700"/>
          </a:xfrm>
          <a:prstGeom prst="rightArrow">
            <a:avLst>
              <a:gd fmla="val 50000" name="adj1"/>
              <a:gd fmla="val 50899" name="adj2"/>
            </a:avLst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4675700" y="2099700"/>
            <a:ext cx="2215200" cy="741600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Користувач щось купив та ввів свої дані для доставки</a:t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 rot="5400000">
            <a:off x="5486250" y="3078225"/>
            <a:ext cx="613800" cy="179700"/>
          </a:xfrm>
          <a:prstGeom prst="rightArrow">
            <a:avLst>
              <a:gd fmla="val 50000" name="adj1"/>
              <a:gd fmla="val 50899" name="adj2"/>
            </a:avLst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675695" y="3496869"/>
            <a:ext cx="2215299" cy="716438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Покупка проходить через API</a:t>
            </a:r>
            <a:endParaRPr b="1" sz="1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5"/>
          <p:cNvSpPr/>
          <p:nvPr/>
        </p:nvSpPr>
        <p:spPr>
          <a:xfrm rot="5400000">
            <a:off x="5463753" y="4452942"/>
            <a:ext cx="658887" cy="179618"/>
          </a:xfrm>
          <a:prstGeom prst="rightArrow">
            <a:avLst>
              <a:gd fmla="val 50000" name="adj1"/>
              <a:gd fmla="val 50899" name="adj2"/>
            </a:avLst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4685550" y="4888575"/>
            <a:ext cx="2215200" cy="782400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Надсилається в базу даних та адмін панель.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1282046" y="2134757"/>
            <a:ext cx="244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Використовується JavaScript та HTML (CSS) 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3893270" y="2234153"/>
            <a:ext cx="669303" cy="36214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1343319" y="3566976"/>
            <a:ext cx="23189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Використовується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Swagger/Flasgger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3871974" y="3674015"/>
            <a:ext cx="669303" cy="36214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1282046" y="4872195"/>
            <a:ext cx="24415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Використовується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SQLite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3869915" y="5014287"/>
            <a:ext cx="669303" cy="36214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8045439" y="941541"/>
            <a:ext cx="282804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Взаємодія між компонентами</a:t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7503736" y="1587873"/>
            <a:ext cx="4053525" cy="4690380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7663990" y="1668260"/>
            <a:ext cx="373301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JavaScript оживляє HTML-структуру та CSS-стилі, дозволяючи динамічно змінювати вміст (HTML) і зовнішній вигляд (CSS)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7663991" y="3496869"/>
            <a:ext cx="37330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Flasgger — це бібліотека для Python-фреймворку Flask, яка спрощує створення та керування документацією API за стандартом Swagger, автоматично генеруючи її з коду та забезпечуючи інтерактивний інтерфейс </a:t>
            </a: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Swagger UI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"/>
          <p:cNvSpPr txBox="1"/>
          <p:nvPr>
            <p:ph type="title"/>
          </p:nvPr>
        </p:nvSpPr>
        <p:spPr>
          <a:xfrm>
            <a:off x="874220" y="66219"/>
            <a:ext cx="9404723" cy="543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entury Gothic"/>
              <a:buNone/>
            </a:pPr>
            <a:r>
              <a:rPr lang="uk-UA" sz="2800"/>
              <a:t>Основний функціонал веб-застосунку</a:t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304508" y="651566"/>
            <a:ext cx="394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Головна сторінка: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1341458" y="1080371"/>
            <a:ext cx="205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Пошук товарів</a:t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841259" y="3244334"/>
            <a:ext cx="28729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Рекомендовані товари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7986073" y="726656"/>
            <a:ext cx="12349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Магазин:</a:t>
            </a:r>
            <a:endParaRPr/>
          </a:p>
        </p:txBody>
      </p:sp>
      <p:pic>
        <p:nvPicPr>
          <p:cNvPr descr="Зображення, що містить текст, знімок екрана, ряд, Шрифт&#10;&#10;Вміст на основі ШІ може бути неправильним." id="255" name="Google Shape;2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901" y="1659118"/>
            <a:ext cx="4492944" cy="60896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6"/>
          <p:cNvSpPr txBox="1"/>
          <p:nvPr/>
        </p:nvSpPr>
        <p:spPr>
          <a:xfrm>
            <a:off x="7794399" y="1164096"/>
            <a:ext cx="19057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Фільтр товарів</a:t>
            </a:r>
            <a:endParaRPr/>
          </a:p>
        </p:txBody>
      </p:sp>
      <p:sp>
        <p:nvSpPr>
          <p:cNvPr id="257" name="Google Shape;257;p6"/>
          <p:cNvSpPr txBox="1"/>
          <p:nvPr/>
        </p:nvSpPr>
        <p:spPr>
          <a:xfrm>
            <a:off x="7315796" y="2632082"/>
            <a:ext cx="172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Опис товару</a:t>
            </a:r>
            <a:endParaRPr/>
          </a:p>
        </p:txBody>
      </p:sp>
      <p:pic>
        <p:nvPicPr>
          <p:cNvPr descr="Зображення, що містить текст, знімок екрана, Шрифт, логотип&#10;&#10;Вміст на основі ШІ може бути неправильним." id="258" name="Google Shape;2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5855" y="3200053"/>
            <a:ext cx="3681285" cy="176437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6"/>
          <p:cNvSpPr txBox="1"/>
          <p:nvPr/>
        </p:nvSpPr>
        <p:spPr>
          <a:xfrm>
            <a:off x="7794399" y="5537723"/>
            <a:ext cx="19364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Пошук товарів</a:t>
            </a:r>
            <a:endParaRPr/>
          </a:p>
        </p:txBody>
      </p:sp>
      <p:pic>
        <p:nvPicPr>
          <p:cNvPr id="260" name="Google Shape;26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31952" y="6155933"/>
            <a:ext cx="6399078" cy="617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4938" y="3713741"/>
            <a:ext cx="3790648" cy="2939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950" y="1471400"/>
            <a:ext cx="3501599" cy="17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"/>
          <p:cNvSpPr txBox="1"/>
          <p:nvPr>
            <p:ph type="title"/>
          </p:nvPr>
        </p:nvSpPr>
        <p:spPr>
          <a:xfrm>
            <a:off x="1695296" y="75646"/>
            <a:ext cx="8023739" cy="533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entury Gothic"/>
              <a:buNone/>
            </a:pPr>
            <a:r>
              <a:rPr lang="uk-UA" sz="2800"/>
              <a:t>Продовження функціоналу веб-застосунка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2460395" y="707167"/>
            <a:ext cx="10180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Кошик:</a:t>
            </a:r>
            <a:endParaRPr/>
          </a:p>
        </p:txBody>
      </p:sp>
      <p:pic>
        <p:nvPicPr>
          <p:cNvPr descr="Зображення, що містить текст, знімок екрана, ряд, Шрифт&#10;&#10;Вміст на основі ШІ може бути неправильним." id="269" name="Google Shape;2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113" y="1379495"/>
            <a:ext cx="5938887" cy="224349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7"/>
          <p:cNvSpPr txBox="1"/>
          <p:nvPr/>
        </p:nvSpPr>
        <p:spPr>
          <a:xfrm>
            <a:off x="8628668" y="618456"/>
            <a:ext cx="12160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Про нас: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7900790" y="891833"/>
            <a:ext cx="27494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Короткі дані про сайт</a:t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7724821" y="2176799"/>
            <a:ext cx="31014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Питання стосовно сайту</a:t>
            </a:r>
            <a:endParaRPr/>
          </a:p>
        </p:txBody>
      </p:sp>
      <p:pic>
        <p:nvPicPr>
          <p:cNvPr descr="Зображення, що містить текст, знімок екрана, Шрифт, число&#10;&#10;Вміст на основі ШІ може бути неправильним." id="273" name="Google Shape;27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4424" y="4681202"/>
            <a:ext cx="3742211" cy="209346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 txBox="1"/>
          <p:nvPr/>
        </p:nvSpPr>
        <p:spPr>
          <a:xfrm>
            <a:off x="8151043" y="4311870"/>
            <a:ext cx="24509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Відгук розробнику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-1" y="1010163"/>
            <a:ext cx="62531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Простий кошик з перевіркою на правильність email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Зображення, що містить текст, знімок екрана, ряд, Шрифт&#10;&#10;Вміст на основі ШІ може бути неправильним." id="276" name="Google Shape;27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16" y="4311870"/>
            <a:ext cx="6343989" cy="224349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7"/>
          <p:cNvSpPr txBox="1"/>
          <p:nvPr/>
        </p:nvSpPr>
        <p:spPr>
          <a:xfrm>
            <a:off x="2009480" y="3622986"/>
            <a:ext cx="22341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Зворотній зв’язок: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1158611" y="3956745"/>
            <a:ext cx="41257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Простий З.З також з перевіркою</a:t>
            </a:r>
            <a:endParaRPr/>
          </a:p>
        </p:txBody>
      </p:sp>
      <p:pic>
        <p:nvPicPr>
          <p:cNvPr id="279" name="Google Shape;279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59575" y="1183575"/>
            <a:ext cx="4709816" cy="10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71075" y="2519138"/>
            <a:ext cx="3850667" cy="188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 txBox="1"/>
          <p:nvPr>
            <p:ph type="title"/>
          </p:nvPr>
        </p:nvSpPr>
        <p:spPr>
          <a:xfrm>
            <a:off x="1103312" y="81931"/>
            <a:ext cx="9404723" cy="527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Century Gothic"/>
              <a:buNone/>
            </a:pPr>
            <a:r>
              <a:rPr lang="uk-UA" sz="2800"/>
              <a:t>Продовження функціоналу веб-застосунка</a:t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>
            <a:off x="1828898" y="609601"/>
            <a:ext cx="19984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Admin-panel: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Зображення, що містить текст, знімок екрана, програмне забезпечення&#10;&#10;Вміст на основі ШІ може бути неправильним." id="287" name="Google Shape;28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23447"/>
            <a:ext cx="5656279" cy="172796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8"/>
          <p:cNvSpPr txBox="1"/>
          <p:nvPr/>
        </p:nvSpPr>
        <p:spPr>
          <a:xfrm>
            <a:off x="1385837" y="1054115"/>
            <a:ext cx="26582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Створення продуктів</a:t>
            </a:r>
            <a:endParaRPr/>
          </a:p>
        </p:txBody>
      </p:sp>
      <p:pic>
        <p:nvPicPr>
          <p:cNvPr descr="Зображення, що містить текст, знімок екрана, Шрифт&#10;&#10;Вміст на основі ШІ може бути неправильним." id="289" name="Google Shape;2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432773"/>
            <a:ext cx="5638003" cy="200178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8"/>
          <p:cNvSpPr txBox="1"/>
          <p:nvPr/>
        </p:nvSpPr>
        <p:spPr>
          <a:xfrm>
            <a:off x="1574276" y="3107425"/>
            <a:ext cx="27714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Деталі замовлень</a:t>
            </a:r>
            <a:endParaRPr/>
          </a:p>
        </p:txBody>
      </p:sp>
      <p:pic>
        <p:nvPicPr>
          <p:cNvPr descr="Зображення, що містить текст, знімок екрана, Шрифт, число&#10;&#10;Вміст на основі ШІ може бути неправильним." id="291" name="Google Shape;2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9589" y="5514694"/>
            <a:ext cx="2902499" cy="134330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 txBox="1"/>
          <p:nvPr/>
        </p:nvSpPr>
        <p:spPr>
          <a:xfrm>
            <a:off x="3346516" y="5803885"/>
            <a:ext cx="21587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Додавання клієнтів</a:t>
            </a:r>
            <a:endParaRPr/>
          </a:p>
        </p:txBody>
      </p:sp>
      <p:sp>
        <p:nvSpPr>
          <p:cNvPr id="293" name="Google Shape;293;p8"/>
          <p:cNvSpPr txBox="1"/>
          <p:nvPr/>
        </p:nvSpPr>
        <p:spPr>
          <a:xfrm>
            <a:off x="8163612" y="532197"/>
            <a:ext cx="24226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Api-DEMO: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p8"/>
          <p:cNvSpPr txBox="1"/>
          <p:nvPr/>
        </p:nvSpPr>
        <p:spPr>
          <a:xfrm>
            <a:off x="10179459" y="747310"/>
            <a:ext cx="183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Управління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продуктами</a:t>
            </a:r>
            <a:endParaRPr/>
          </a:p>
        </p:txBody>
      </p:sp>
      <p:sp>
        <p:nvSpPr>
          <p:cNvPr id="295" name="Google Shape;295;p8"/>
          <p:cNvSpPr txBox="1"/>
          <p:nvPr/>
        </p:nvSpPr>
        <p:spPr>
          <a:xfrm>
            <a:off x="5738693" y="3680243"/>
            <a:ext cx="20183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Управління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замовленнями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10077254" y="5460773"/>
            <a:ext cx="20361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Управління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відгуками</a:t>
            </a:r>
            <a:endParaRPr/>
          </a:p>
        </p:txBody>
      </p:sp>
      <p:pic>
        <p:nvPicPr>
          <p:cNvPr id="297" name="Google Shape;297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71338" y="1490738"/>
            <a:ext cx="4620652" cy="151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98511" y="3140575"/>
            <a:ext cx="3795514" cy="18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94247" y="5061325"/>
            <a:ext cx="3419814" cy="172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9"/>
          <p:cNvSpPr txBox="1"/>
          <p:nvPr>
            <p:ph type="title"/>
          </p:nvPr>
        </p:nvSpPr>
        <p:spPr>
          <a:xfrm>
            <a:off x="844073" y="94500"/>
            <a:ext cx="994019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Функції які покращують застосунок</a:t>
            </a:r>
            <a:endParaRPr/>
          </a:p>
        </p:txBody>
      </p:sp>
      <p:pic>
        <p:nvPicPr>
          <p:cNvPr descr="Зображення, що містить текст, знімок екрана, Шрифт, Прямокутник&#10;&#10;Вміст на основі ШІ може бути неправильним." id="305" name="Google Shape;3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48" y="818473"/>
            <a:ext cx="4544059" cy="1848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Зображення, що містить текст, знімок екрана, Шрифт, число&#10;&#10;Вміст на основі ШІ може бути неправильним." id="306" name="Google Shape;30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48" y="2810626"/>
            <a:ext cx="3363372" cy="20550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9"/>
          <p:cNvSpPr txBox="1"/>
          <p:nvPr/>
        </p:nvSpPr>
        <p:spPr>
          <a:xfrm>
            <a:off x="273377" y="5268934"/>
            <a:ext cx="68721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Q: Чому ці функції покращують функціонал застосунку?</a:t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>
            <a:off x="273377" y="5797485"/>
            <a:ext cx="115761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A: Тому що завдяки їм набагато краще та легше користуватися вебсайтом якщо ти новий відвідувач</a:t>
            </a:r>
            <a:endParaRPr/>
          </a:p>
        </p:txBody>
      </p:sp>
      <p:pic>
        <p:nvPicPr>
          <p:cNvPr id="309" name="Google Shape;309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7275" y="980487"/>
            <a:ext cx="3850667" cy="1885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03788" y="2939116"/>
            <a:ext cx="3790648" cy="2939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43925" y="3171475"/>
            <a:ext cx="3501599" cy="17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"/>
          <p:cNvSpPr txBox="1"/>
          <p:nvPr>
            <p:ph type="title"/>
          </p:nvPr>
        </p:nvSpPr>
        <p:spPr>
          <a:xfrm>
            <a:off x="2559754" y="65988"/>
            <a:ext cx="6188322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Структура бази даних</a:t>
            </a:r>
            <a:endParaRPr/>
          </a:p>
        </p:txBody>
      </p:sp>
      <p:sp>
        <p:nvSpPr>
          <p:cNvPr id="317" name="Google Shape;317;p10"/>
          <p:cNvSpPr txBox="1"/>
          <p:nvPr/>
        </p:nvSpPr>
        <p:spPr>
          <a:xfrm>
            <a:off x="0" y="660399"/>
            <a:ext cx="31296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Схема основних таблиць</a:t>
            </a:r>
            <a:endParaRPr/>
          </a:p>
        </p:txBody>
      </p:sp>
      <p:pic>
        <p:nvPicPr>
          <p:cNvPr id="318" name="Google Shape;31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02730"/>
            <a:ext cx="7973715" cy="842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338369"/>
            <a:ext cx="8663233" cy="791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" y="3294072"/>
            <a:ext cx="9313681" cy="774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13680" y="3314177"/>
            <a:ext cx="2372919" cy="156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4244932"/>
            <a:ext cx="8568965" cy="982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5403932"/>
            <a:ext cx="7588578" cy="742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-1" y="6362901"/>
            <a:ext cx="5735433" cy="495099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0"/>
          <p:cNvSpPr txBox="1"/>
          <p:nvPr/>
        </p:nvSpPr>
        <p:spPr>
          <a:xfrm>
            <a:off x="8568964" y="1486623"/>
            <a:ext cx="19042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Клієнти</a:t>
            </a:r>
            <a:endParaRPr/>
          </a:p>
        </p:txBody>
      </p:sp>
      <p:sp>
        <p:nvSpPr>
          <p:cNvPr id="326" name="Google Shape;326;p10"/>
          <p:cNvSpPr txBox="1"/>
          <p:nvPr/>
        </p:nvSpPr>
        <p:spPr>
          <a:xfrm>
            <a:off x="8927183" y="2463462"/>
            <a:ext cx="27594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Зворотній зв’язок</a:t>
            </a:r>
            <a:endParaRPr/>
          </a:p>
        </p:txBody>
      </p:sp>
      <p:sp>
        <p:nvSpPr>
          <p:cNvPr id="327" name="Google Shape;327;p10"/>
          <p:cNvSpPr txBox="1"/>
          <p:nvPr/>
        </p:nvSpPr>
        <p:spPr>
          <a:xfrm>
            <a:off x="9313680" y="3602601"/>
            <a:ext cx="27594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Замовленні продукти</a:t>
            </a:r>
            <a:endParaRPr/>
          </a:p>
        </p:txBody>
      </p:sp>
      <p:sp>
        <p:nvSpPr>
          <p:cNvPr id="328" name="Google Shape;328;p10"/>
          <p:cNvSpPr txBox="1"/>
          <p:nvPr/>
        </p:nvSpPr>
        <p:spPr>
          <a:xfrm>
            <a:off x="8748076" y="4506012"/>
            <a:ext cx="31014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Замовлення продуктів</a:t>
            </a:r>
            <a:endParaRPr/>
          </a:p>
        </p:txBody>
      </p:sp>
      <p:sp>
        <p:nvSpPr>
          <p:cNvPr id="329" name="Google Shape;329;p10"/>
          <p:cNvSpPr txBox="1"/>
          <p:nvPr/>
        </p:nvSpPr>
        <p:spPr>
          <a:xfrm>
            <a:off x="7973715" y="5590664"/>
            <a:ext cx="22907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Продукти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6096000" y="6362901"/>
            <a:ext cx="55146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Внутрішня системна таблиця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"/>
          <p:cNvSpPr txBox="1"/>
          <p:nvPr>
            <p:ph type="title"/>
          </p:nvPr>
        </p:nvSpPr>
        <p:spPr>
          <a:xfrm>
            <a:off x="2644594" y="0"/>
            <a:ext cx="6282589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Зв’язки між таблицями</a:t>
            </a:r>
            <a:endParaRPr/>
          </a:p>
        </p:txBody>
      </p:sp>
      <p:sp>
        <p:nvSpPr>
          <p:cNvPr id="336" name="Google Shape;336;p11"/>
          <p:cNvSpPr txBox="1"/>
          <p:nvPr/>
        </p:nvSpPr>
        <p:spPr>
          <a:xfrm>
            <a:off x="782425" y="1112363"/>
            <a:ext cx="75037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Коли створюєш новий продукт в адмін панелі (або API DEMO),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Цей продукт переходить в базу даних “products”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Зображення, що містить текст, знімок екрана, число, Шрифт&#10;&#10;Вміст на основі ШІ може бути неправильним." id="337" name="Google Shape;3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48" y="1866507"/>
            <a:ext cx="5864168" cy="40493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Зображення, що містить текст, знімок екрана&#10;&#10;Вміст на основі ШІ може бути неправильним." id="338" name="Google Shape;33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3855" y="1866507"/>
            <a:ext cx="5646656" cy="1622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0216" y="3641643"/>
            <a:ext cx="5939385" cy="2944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"/>
          <p:cNvSpPr txBox="1"/>
          <p:nvPr>
            <p:ph type="title"/>
          </p:nvPr>
        </p:nvSpPr>
        <p:spPr>
          <a:xfrm>
            <a:off x="1179963" y="-156652"/>
            <a:ext cx="9404723" cy="700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API endpoints.</a:t>
            </a:r>
            <a:endParaRPr/>
          </a:p>
        </p:txBody>
      </p:sp>
      <p:sp>
        <p:nvSpPr>
          <p:cNvPr id="345" name="Google Shape;345;p12"/>
          <p:cNvSpPr txBox="1"/>
          <p:nvPr/>
        </p:nvSpPr>
        <p:spPr>
          <a:xfrm>
            <a:off x="3299381" y="688157"/>
            <a:ext cx="51658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Приклади моїх головних API endpoints: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6" name="Google Shape;346;p12"/>
          <p:cNvSpPr txBox="1"/>
          <p:nvPr/>
        </p:nvSpPr>
        <p:spPr>
          <a:xfrm>
            <a:off x="443060" y="1300899"/>
            <a:ext cx="7369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GET: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Зображення, що містить текст, знімок екрана, програмне забезпечення, Комп’ютерна піктограма&#10;&#10;Вміст на основі ШІ може бути неправильним." id="347" name="Google Shape;3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665" y="1670231"/>
            <a:ext cx="9747317" cy="4933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"/>
          <p:cNvSpPr txBox="1"/>
          <p:nvPr>
            <p:ph type="title"/>
          </p:nvPr>
        </p:nvSpPr>
        <p:spPr>
          <a:xfrm>
            <a:off x="1179963" y="-156652"/>
            <a:ext cx="9404723" cy="700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API endpoints.</a:t>
            </a:r>
            <a:endParaRPr/>
          </a:p>
        </p:txBody>
      </p:sp>
      <p:sp>
        <p:nvSpPr>
          <p:cNvPr id="353" name="Google Shape;353;p13"/>
          <p:cNvSpPr txBox="1"/>
          <p:nvPr/>
        </p:nvSpPr>
        <p:spPr>
          <a:xfrm>
            <a:off x="3299381" y="688157"/>
            <a:ext cx="51658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Приклади моїх головних API endpoints: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4" name="Google Shape;354;p13"/>
          <p:cNvSpPr txBox="1"/>
          <p:nvPr/>
        </p:nvSpPr>
        <p:spPr>
          <a:xfrm>
            <a:off x="443060" y="1300899"/>
            <a:ext cx="8672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POST: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Зображення, що містить текст, знімок екрана, програмне забезпечення, монітор&#10;&#10;Вміст на основі ШІ може бути неправильним." id="355" name="Google Shape;3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2297" y="1670231"/>
            <a:ext cx="10147333" cy="4797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"/>
          <p:cNvSpPr txBox="1"/>
          <p:nvPr>
            <p:ph type="title"/>
          </p:nvPr>
        </p:nvSpPr>
        <p:spPr>
          <a:xfrm>
            <a:off x="1179963" y="-156652"/>
            <a:ext cx="9404723" cy="700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API endpoints.</a:t>
            </a:r>
            <a:endParaRPr/>
          </a:p>
        </p:txBody>
      </p:sp>
      <p:sp>
        <p:nvSpPr>
          <p:cNvPr id="361" name="Google Shape;361;p14"/>
          <p:cNvSpPr txBox="1"/>
          <p:nvPr/>
        </p:nvSpPr>
        <p:spPr>
          <a:xfrm>
            <a:off x="3299381" y="688157"/>
            <a:ext cx="51658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Приклади моїх головних API endpoints: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2" name="Google Shape;362;p14"/>
          <p:cNvSpPr txBox="1"/>
          <p:nvPr/>
        </p:nvSpPr>
        <p:spPr>
          <a:xfrm>
            <a:off x="443059" y="1300899"/>
            <a:ext cx="9992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DELETE: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Зображення, що містить текст, знімок екрана, програмне забезпечення, Веб-сторінка&#10;&#10;Вміст на основі ШІ може бути неправильним." id="363" name="Google Shape;3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656" y="1814775"/>
            <a:ext cx="9605913" cy="4700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"/>
          <p:cNvSpPr txBox="1"/>
          <p:nvPr>
            <p:ph type="title"/>
          </p:nvPr>
        </p:nvSpPr>
        <p:spPr>
          <a:xfrm>
            <a:off x="1179963" y="-156652"/>
            <a:ext cx="9404723" cy="700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API endpoints.</a:t>
            </a:r>
            <a:endParaRPr/>
          </a:p>
        </p:txBody>
      </p:sp>
      <p:sp>
        <p:nvSpPr>
          <p:cNvPr id="369" name="Google Shape;369;p15"/>
          <p:cNvSpPr txBox="1"/>
          <p:nvPr/>
        </p:nvSpPr>
        <p:spPr>
          <a:xfrm>
            <a:off x="3299381" y="688157"/>
            <a:ext cx="51658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Приклади моїх головних API endpoints: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0" name="Google Shape;370;p15"/>
          <p:cNvSpPr txBox="1"/>
          <p:nvPr/>
        </p:nvSpPr>
        <p:spPr>
          <a:xfrm>
            <a:off x="443059" y="1300899"/>
            <a:ext cx="99924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PUT: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Зображення, що містить текст, знімок екрана, програмне забезпечення, Комп’ютерна піктограма&#10;&#10;Вміст на основі ШІ може бути неправильним." id="371" name="Google Shape;3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9031" y="1670231"/>
            <a:ext cx="9473938" cy="4939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"/>
          <p:cNvSpPr txBox="1"/>
          <p:nvPr>
            <p:ph type="title"/>
          </p:nvPr>
        </p:nvSpPr>
        <p:spPr>
          <a:xfrm>
            <a:off x="4237724" y="0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Технічні проблеми з якими я зіткнувся, та мої рішення:</a:t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509047" y="75414"/>
            <a:ext cx="2997724" cy="4119514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8" name="Google Shape;378;p16"/>
          <p:cNvSpPr txBox="1"/>
          <p:nvPr/>
        </p:nvSpPr>
        <p:spPr>
          <a:xfrm>
            <a:off x="1046375" y="235670"/>
            <a:ext cx="19230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Лист проблем</a:t>
            </a:r>
            <a:endParaRPr/>
          </a:p>
        </p:txBody>
      </p:sp>
      <p:sp>
        <p:nvSpPr>
          <p:cNvPr id="379" name="Google Shape;379;p16"/>
          <p:cNvSpPr txBox="1"/>
          <p:nvPr/>
        </p:nvSpPr>
        <p:spPr>
          <a:xfrm>
            <a:off x="509047" y="791852"/>
            <a:ext cx="299772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Сайт не запускався коли зробив API endpoints.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Зворотній зв’язок не проходив через базу даних.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Не міг реєструвати опис продуктів через API-demo.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Деякі API endpoints не давали себе передивлятися.</a:t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5024487" y="1564849"/>
            <a:ext cx="5863472" cy="57503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Рішення проблем послідовно:</a:t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3742441" y="2733773"/>
            <a:ext cx="824845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 коді випадково вписав українську літеру замість англійської та приходилось шукати щоб це виправити.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Поміняв назву бази даних, так само і в коді, тоді запрацювало, можливо технічна проблема застосунка і не хотіло пропускати теперішню назву.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 базі даних зробив нову табличку щоб показувалось реальне значення яке вводиться через API-demo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Обновив body ендпойнтів щоб можна було легше обновляти та дивитись нові запити.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7"/>
          <p:cNvSpPr txBox="1"/>
          <p:nvPr>
            <p:ph type="title"/>
          </p:nvPr>
        </p:nvSpPr>
        <p:spPr>
          <a:xfrm>
            <a:off x="2352363" y="0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Цікаві технічні рішення</a:t>
            </a:r>
            <a:endParaRPr/>
          </a:p>
        </p:txBody>
      </p:sp>
      <p:sp>
        <p:nvSpPr>
          <p:cNvPr id="387" name="Google Shape;387;p17"/>
          <p:cNvSpPr txBox="1"/>
          <p:nvPr/>
        </p:nvSpPr>
        <p:spPr>
          <a:xfrm>
            <a:off x="434914" y="938865"/>
            <a:ext cx="6617617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Проблема 1: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Type Converter Error у Jinja2 URL Generation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Сервер видавав 500 помилку при завантаженні сторінки home (домашньої сторінки)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Рішення: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Використав числовий placeholder 0, який проходить валідацію типу, а потім замінюю його regex на клієнті: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 urlTemplate = "{{ url_for('shop.add_to_cart', product_id=0) }}";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// Regex замінює саме останнє '0' у URL (product_id)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const url = urlTemplate.replace(/0$/, item.id);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6765304" y="938865"/>
            <a:ext cx="5279010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Проблема 2: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SQL Placeholder Mismatch у Динамічних Запитах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У models.py функція get_products() додавала SQL placeholder ? навіть коли конвертація ціни не вдавалась: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Рішення:</a:t>
            </a:r>
            <a:b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Додаю placeholder ТІЛЬКИ після успішної конвертації: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min_price is not None: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min_price_float = float(min_price)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clauses.append('price &gt;= ?')  # додаємо тільки якщо float() успішний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    params.append(min_price_float)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except (ValueError, TypeError): pass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# ігноруємо невалідні значення БЕЗ додавання placeholder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"/>
          <p:cNvSpPr txBox="1"/>
          <p:nvPr>
            <p:ph type="title"/>
          </p:nvPr>
        </p:nvSpPr>
        <p:spPr>
          <a:xfrm>
            <a:off x="1103312" y="0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LIVE презентація веб-застосунку</a:t>
            </a:r>
            <a:endParaRPr/>
          </a:p>
        </p:txBody>
      </p:sp>
      <p:pic>
        <p:nvPicPr>
          <p:cNvPr id="394" name="Google Shape;3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250" y="788824"/>
            <a:ext cx="11600902" cy="5679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9"/>
          <p:cNvSpPr txBox="1"/>
          <p:nvPr>
            <p:ph type="title"/>
          </p:nvPr>
        </p:nvSpPr>
        <p:spPr>
          <a:xfrm>
            <a:off x="646112" y="452718"/>
            <a:ext cx="4802582" cy="480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None/>
            </a:pPr>
            <a:r>
              <a:rPr lang="uk-UA" sz="1800"/>
              <a:t>На випадок якщо відео не запрацює</a:t>
            </a:r>
            <a:endParaRPr/>
          </a:p>
        </p:txBody>
      </p:sp>
      <p:sp>
        <p:nvSpPr>
          <p:cNvPr id="400" name="Google Shape;400;p19"/>
          <p:cNvSpPr txBox="1"/>
          <p:nvPr/>
        </p:nvSpPr>
        <p:spPr>
          <a:xfrm>
            <a:off x="329938" y="1131216"/>
            <a:ext cx="3789575" cy="367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Головні функції сайту:</a:t>
            </a:r>
            <a:endParaRPr/>
          </a:p>
        </p:txBody>
      </p:sp>
      <p:pic>
        <p:nvPicPr>
          <p:cNvPr descr="Зображення, що містить текст, Шрифт, знімок екрана, дизайн&#10;&#10;Вміст на основі ШІ може бути неправильним." id="401" name="Google Shape;4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5950" y="4345756"/>
            <a:ext cx="7173798" cy="22218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Зображення, що містить текст, знімок екрана, Шрифт, логотип&#10;&#10;Вміст на основі ШІ може бути неправильним." id="402" name="Google Shape;4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252" y="1696824"/>
            <a:ext cx="4467849" cy="2667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516596"/>
            <a:ext cx="4531151" cy="1825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0719" y="738550"/>
            <a:ext cx="6438506" cy="3437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0"/>
          <p:cNvSpPr txBox="1"/>
          <p:nvPr>
            <p:ph type="title"/>
          </p:nvPr>
        </p:nvSpPr>
        <p:spPr>
          <a:xfrm>
            <a:off x="1475670" y="94500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Можливості розвитку у майбутньому</a:t>
            </a:r>
            <a:endParaRPr/>
          </a:p>
        </p:txBody>
      </p:sp>
      <p:sp>
        <p:nvSpPr>
          <p:cNvPr id="410" name="Google Shape;410;p20"/>
          <p:cNvSpPr/>
          <p:nvPr/>
        </p:nvSpPr>
        <p:spPr>
          <a:xfrm>
            <a:off x="229400" y="1721275"/>
            <a:ext cx="5778600" cy="3355200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1" name="Google Shape;411;p20"/>
          <p:cNvSpPr txBox="1"/>
          <p:nvPr/>
        </p:nvSpPr>
        <p:spPr>
          <a:xfrm>
            <a:off x="229388" y="1809947"/>
            <a:ext cx="55242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Реалізувати систему логіну для користувачів.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Покращити адмін панель та зробити паролі більш захищеними.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Добавити анти-DDOS систему.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Реалізувати банкінг систему.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AutoNum type="arabicPeriod"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Розробити більше вкладок та нових товарів.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"/>
          <p:cNvSpPr txBox="1"/>
          <p:nvPr>
            <p:ph type="title"/>
          </p:nvPr>
        </p:nvSpPr>
        <p:spPr>
          <a:xfrm>
            <a:off x="2513900" y="62387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uk-UA"/>
              <a:t>Висновки мого першого навчального проєкту</a:t>
            </a:r>
            <a:endParaRPr/>
          </a:p>
        </p:txBody>
      </p:sp>
      <p:sp>
        <p:nvSpPr>
          <p:cNvPr id="417" name="Google Shape;417;p21"/>
          <p:cNvSpPr txBox="1"/>
          <p:nvPr/>
        </p:nvSpPr>
        <p:spPr>
          <a:xfrm>
            <a:off x="566452" y="3282292"/>
            <a:ext cx="31581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Q: Що було реалізовано?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A: Багато функцій корисних для користувачів щоб рухатись по вебсайту</a:t>
            </a:r>
            <a:endParaRPr/>
          </a:p>
        </p:txBody>
      </p:sp>
      <p:sp>
        <p:nvSpPr>
          <p:cNvPr id="418" name="Google Shape;418;p21"/>
          <p:cNvSpPr txBox="1"/>
          <p:nvPr/>
        </p:nvSpPr>
        <p:spPr>
          <a:xfrm>
            <a:off x="8106299" y="3282292"/>
            <a:ext cx="3393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Q: Які навички здобуті?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A: Невдосконалені уміння користуватися мовами для розробки вебсайтів (HTML, CSS, JavaScript, Python)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0" y="5208068"/>
            <a:ext cx="12192000" cy="101100"/>
          </a:xfrm>
          <a:prstGeom prst="rect">
            <a:avLst/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3431357" y="1462917"/>
            <a:ext cx="4892511" cy="164792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rnd" cmpd="sng" w="19050">
            <a:solidFill>
              <a:srgbClr val="3D10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3516198" y="1569315"/>
            <a:ext cx="47353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Ключові результати проєкту</a:t>
            </a:r>
            <a:endParaRPr/>
          </a:p>
        </p:txBody>
      </p:sp>
      <p:sp>
        <p:nvSpPr>
          <p:cNvPr id="422" name="Google Shape;422;p21"/>
          <p:cNvSpPr txBox="1"/>
          <p:nvPr/>
        </p:nvSpPr>
        <p:spPr>
          <a:xfrm>
            <a:off x="3431357" y="2092751"/>
            <a:ext cx="489251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Був реалізований не повністю для користувачів веб-застосунок, більше для тестування нових функцій.</a:t>
            </a:r>
            <a:endParaRPr/>
          </a:p>
        </p:txBody>
      </p:sp>
      <p:sp>
        <p:nvSpPr>
          <p:cNvPr id="423" name="Google Shape;423;p21"/>
          <p:cNvSpPr txBox="1"/>
          <p:nvPr/>
        </p:nvSpPr>
        <p:spPr>
          <a:xfrm>
            <a:off x="-80129" y="5208071"/>
            <a:ext cx="11915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4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Дякую за увагу!</a:t>
            </a:r>
            <a:endParaRPr/>
          </a:p>
        </p:txBody>
      </p:sp>
      <p:sp>
        <p:nvSpPr>
          <p:cNvPr id="424" name="Google Shape;424;p21"/>
          <p:cNvSpPr txBox="1"/>
          <p:nvPr/>
        </p:nvSpPr>
        <p:spPr>
          <a:xfrm>
            <a:off x="108408" y="6047889"/>
            <a:ext cx="664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Презента</a:t>
            </a: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ц</a:t>
            </a: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ію розробили: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Остаповець Данило, Козачук Максим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2025-12-14T13:07:55Z</dcterms:created>
  <dc:creator>alex mashyrin</dc:creator>
</cp:coreProperties>
</file>